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287" y="2242691"/>
            <a:ext cx="2257425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5563" y="2652266"/>
            <a:ext cx="6980872" cy="591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0F172A"/>
                </a:solidFill>
                <a:latin typeface="Poppins"/>
              </a:rPr>
              <a:t>AtliQ Hardware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386583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Comprehensive Analysis of Supply Chain, Finance Operations, Financial P&amp;L Framework, and Database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1600" y="4453383"/>
            <a:ext cx="3038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 SQL Server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Finance &amp; Supply Chain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Star Schema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5" y="4472433"/>
            <a:ext cx="1143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4472433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325" y="4472433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2343150"/>
            <a:ext cx="104775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5464" y="2752725"/>
            <a:ext cx="856107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oppins"/>
              </a:rPr>
              <a:t>1. Executive Summary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829050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An end-to-end analytics initiative evaluating business distribution, pricing waterfalls, and supply chain forecast precision for AtliQ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19337"/>
            <a:ext cx="533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AtliQ Hardware is a global hardware manufacturer specializing in computer peripherals and electronic gadgets across worldwide markets.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90837"/>
            <a:ext cx="5067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Market Scope: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Global footprint selling mice, keyboards, laptops, and printers across multiple sub-zones.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81387"/>
            <a:ext cx="5067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Customer vs. Consumer: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Customers are retail intermediaries (e.g., Croma, Best Buy), whereas Consumers are end-users.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71937"/>
            <a:ext cx="5067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Omnichannel Strategy: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Operations spans Brick &amp; Mortar retail stores, E-Commerce platforms, and regional Distributors.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62487"/>
            <a:ext cx="5067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Fiscal Calendar: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Operates on a September–August fiscal year to align with peak holiday sales periods.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AtliQ Hardware Business Model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09887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00437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0987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81537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95562"/>
            <a:ext cx="5334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95562"/>
            <a:ext cx="5334000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909887"/>
            <a:ext cx="400050" cy="400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3452812"/>
            <a:ext cx="494061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oppins SemiBold"/>
              </a:rPr>
              <a:t>Data Engineering &amp; Schema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62387"/>
            <a:ext cx="4705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Constructed a robust Star / Snowflake database schema in SQL Server, decoupling master entities into Dimension tables and transactional events into Fact tables for optimized performance.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2909887"/>
            <a:ext cx="400050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0825" y="3452812"/>
            <a:ext cx="494061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oppins SemiBold"/>
              </a:rPr>
              <a:t>Advanced SQL Implementations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862387"/>
            <a:ext cx="4705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Developed User-Defined Functions (UDFs) for financial cost modeling, Stored Procedures for automated MoM reporting, and Triggers for real-time inventory validation and auditing.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024187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1312" y="3024187"/>
            <a:ext cx="219075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2. Technical Analytics 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6018"/>
            <a:ext cx="11049000" cy="27003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445543"/>
          <a:ext cx="11029947" cy="268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95177"/>
                <a:gridCol w="1045219"/>
                <a:gridCol w="3634233"/>
                <a:gridCol w="4455318"/>
              </a:tblGrid>
              <a:tr h="44688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Table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Key Columns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Business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688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dim_customer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customer_code, customer, platform, channel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Stores partner store metadata and geographic segmentation.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688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dim_product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product_code, division, segment,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Catalog of hardware items, product categories, and variants.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688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fact_sales_monthly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date, product_code, customer_code, sold_quantity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Records monthly actual sales transactions across all customers.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688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fact_forecast_monthly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date, product_code, forecast_quantity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Stores estimated monthly demand for inventory planning.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688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fact_gross_price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product_code, fiscal_year, gross_price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Tracks base list prices per product per financial year.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917031"/>
            <a:ext cx="189517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76202" y="2917031"/>
            <a:ext cx="104521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21422" y="2917031"/>
            <a:ext cx="363423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55656" y="2917031"/>
            <a:ext cx="445531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369468"/>
            <a:ext cx="1895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76202" y="3369468"/>
            <a:ext cx="1045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1422" y="3369468"/>
            <a:ext cx="3634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5656" y="3369468"/>
            <a:ext cx="4455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807618"/>
            <a:ext cx="1895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6202" y="3807618"/>
            <a:ext cx="1045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1422" y="3807618"/>
            <a:ext cx="3634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55656" y="3807618"/>
            <a:ext cx="4455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245768"/>
            <a:ext cx="1895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76202" y="4245768"/>
            <a:ext cx="1045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1422" y="4245768"/>
            <a:ext cx="3634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55656" y="4245768"/>
            <a:ext cx="4455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025" y="4683918"/>
            <a:ext cx="18951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76202" y="4683918"/>
            <a:ext cx="1045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1422" y="4683918"/>
            <a:ext cx="36342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55656" y="4683918"/>
            <a:ext cx="4455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3. Requirement Analysis: Data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95837"/>
            <a:ext cx="11049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1" u="none">
                <a:solidFill>
                  <a:srgbClr val="64748B"/>
                </a:solidFill>
                <a:latin typeface="Inter"/>
              </a:rPr>
              <a:t>Illustrative unit sale ($30 Gross Price): Pre-Invoice discount ($2) gives Net Invoice Sales ($28), Post-Invoice deductions ($3) yield Net Sales ($25), deducting COGS ($20) leaves $5 Gross Margin (20% of Net Sales).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4. Financial P&amp;L Waterfall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919662"/>
            <a:ext cx="11049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1" u="none">
                <a:solidFill>
                  <a:srgbClr val="64748B"/>
                </a:solidFill>
                <a:latin typeface="Inter"/>
              </a:rPr>
              <a:t>Retailers command the largest overall revenue volume, whereas Direct Sales channels deliver higher gross margin retention due to eliminated intermediary discounts.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5. Channel &amp; Platform Sales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045868"/>
            <a:ext cx="110490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1" u="none">
                <a:solidFill>
                  <a:srgbClr val="64748B"/>
                </a:solidFill>
                <a:latin typeface="Inter"/>
              </a:rPr>
              <a:t>Sales spike sharply during Q1 (Sep–Dec) due to festive demand, emphasizing the critical importance of accurate demand forecasting to prevent stockouts.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Monthly Sales Trend &amp; Seasonality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7012"/>
            <a:ext cx="3867150" cy="2038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148012"/>
            <a:ext cx="3105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FFFFFF"/>
                </a:solidFill>
                <a:latin typeface="Poppins"/>
              </a:rPr>
              <a:t>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195762"/>
            <a:ext cx="3105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7D2FE"/>
                </a:solidFill>
                <a:latin typeface="Inter Medium"/>
              </a:rPr>
              <a:t>Gross Margin on Net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0150" y="2695575"/>
            <a:ext cx="694086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Financial Efficiency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850" y="3105150"/>
            <a:ext cx="6343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Deduction Impact: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Combined pre &amp; post-invoice deductions account for ~$5.00 per unit (~16.7% of gross price).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850" y="3695700"/>
            <a:ext cx="6343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COGS Breakdown: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Manufacturing cost represents the primary expense component, followed by freight &amp; local transportation fees.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850" y="4286250"/>
            <a:ext cx="6343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Optimization Goal: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Rationalize post-invoice promotional rebates to drive 3–5% gross margin expansion.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Key Profitability Benchmarks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50" y="3124200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50" y="3714750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50" y="4305300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3530649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47925"/>
            <a:ext cx="3530649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47925"/>
            <a:ext cx="3530649" cy="2676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24150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09950"/>
            <a:ext cx="312710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Custom UDFs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19525"/>
            <a:ext cx="2978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Defined functions to retrieve total forecasted quantities, multi-year manufacturing costs, and market-specific freight percentages dynamically.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24150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09950"/>
            <a:ext cx="312710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Stored Procedures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19525"/>
            <a:ext cx="2978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Automated standard routines to generate month-over-month growth reports, update gross prices, and calculate multi-period period revenues.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24150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09950"/>
            <a:ext cx="312710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Triggers &amp; Auditing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19525"/>
            <a:ext cx="2978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Implemented triggers for inventory constraint enforcement, referential integrity validation, and anomaly outlier detection in sales transactions.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" y="2876550"/>
            <a:ext cx="1619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662" y="2876550"/>
            <a:ext cx="18097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8624" y="2876550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Database System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8007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6. Strategic Business Insights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700337"/>
            <a:ext cx="5524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Forecast Precision: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High variance during festive quarters demands machine learning forecast integration to optimize buffer stock levels.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71837"/>
            <a:ext cx="5524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Discount Governance: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Unmonitored post-invoice rebates risk margin dilution; strict performance thresholds must be enforced for customer rebates.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071937"/>
            <a:ext cx="5524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Channel Prioritization: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Expanding direct-to-consumer (AtliQ E-Store) captures higher gross margins while reducing dependence on retail discounts.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25" y="2752725"/>
            <a:ext cx="584835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362" y="476250"/>
            <a:ext cx="10572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885825"/>
            <a:ext cx="116014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43100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F46E5"/>
                </a:solidFill>
                <a:latin typeface="Inter Medium"/>
              </a:rPr>
              <a:t>Building Data-Driven Precision in Finance &amp; Supply Chain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194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781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81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623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6944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https://image.slidesharecdn.com/escm-150316094546-conversion-gate01/75/Electronic-Supply-Chain-Management-2-2048.jpg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40280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www.slideshare.net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338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4096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https://images.klipfolio.com/website/public/5eaa172d-9c85-4a66-9a34-8dd8e3abb8d3/financial-dashboard-example.png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7433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www.klipfolio.com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